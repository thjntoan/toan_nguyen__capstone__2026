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0D1F3A"/>
          </a:solidFill>
          <a:ln w="12700">
            <a:solidFill>
              <a:srgbClr val="0D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Intermittency &amp;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Reliability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Directed Technical Change DSGE Model for Vietnam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Toan T. Nguyen (Justin)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Dr. Xavier Martin G. Bautista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Fulbright University Vietnam  ·  Spring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1691640" cy="32004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DSGE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21992" y="3291840"/>
            <a:ext cx="1645920" cy="32004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1992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Learning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41064" y="3291840"/>
            <a:ext cx="1920240" cy="32004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41064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Intermittency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34456" y="3291840"/>
            <a:ext cx="1371600" cy="32004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34456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79208" y="3291840"/>
            <a:ext cx="1234440" cy="32004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9208" y="3291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PDP8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0" y="4114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Fulbright University Vietnam  ·  Capstone Presentation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Vietnam's Energy Trilemma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Decarbonization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PDP8 targets 73.5 GW of renewables by 2030—up from 22.8 GW in 2024. Solar &amp; wind are non-dispatchable and weather-driven.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64008" cy="320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914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🔋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8328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Instability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storage is &lt;0.25 GW today vs. a PDP8 target of 14 GW. The infrastructure gap creates reliability penalties that act as TFP shocks.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22960"/>
            <a:ext cx="64008" cy="32004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914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Vulnerability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82880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imports battery technology at world prices. Global lithium price spikes drain the trade balance and raise sovereign borrowing costs.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160520"/>
            <a:ext cx="8595360" cy="640080"/>
          </a:xfrm>
          <a:prstGeom prst="rect">
            <a:avLst/>
          </a:prstGeom>
          <a:solidFill>
            <a:srgbClr val="19376D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60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clean energy transition is not just about installing solar panels—it is about managing the reliability penalty when intermittent supply outpaces flexibility infrastructure."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&amp; Novel Contributions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renewable intermittency propagate through capital utilization to create macroeconomic output losses?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structural timing mismatch between private battery deployment and public grid investment—the "Agility Gap"?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endogenous learning-by-doing in storage technology depend on regulatory price signal transmission (χ)?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welfare costs of intermittency and how do policy instruments rank in closing the gap?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822960"/>
            <a:ext cx="44348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822960"/>
            <a:ext cx="64008" cy="3931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868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Novel Contributions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280160"/>
            <a:ext cx="457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1280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Grid Reliability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1627632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utilization is determined by the ratio of flexibility assets to renewable volatility via an exponential reliability constraint—not assumed exogenously.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2496312"/>
            <a:ext cx="457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6360" y="24963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Reliability-Gap Learning-by-Doing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66360" y="284378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technology improves endogenously when the reliability gap widens. The speed depends on regulatory signal transmission χ, distinct from R&amp;D-based DTC.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3712464"/>
            <a:ext cx="457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37124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 Gap Identification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4059936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battery capital (agile, price-driven) vs. public grid capital (slow, rule-based) are modeled as complementary (ρ=0.4) flexibility assets within a CES bundle.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Review: Positioning in the Literature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E-DSGE Frameworks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Heutel (2012), Airaudo et al. (2025)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38404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as CES input—but ignore grid instability from intermittency.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64008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Technical Change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Acemoglu et al. (2012), Popp (2002), Aghion et al. (2016)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92040" y="1536192"/>
            <a:ext cx="38404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600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R&amp;D inter-sectoral races—not deployment-driven storage learning.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64008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&amp; Storage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Schreiner (2020), Zakeri &amp; Syri (2015), Kittner et al. (2017)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593592"/>
            <a:ext cx="38404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57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Techno-economic—lacks DSGE macro propagation &amp; welfare analysis.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880360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880360"/>
            <a:ext cx="64008" cy="19202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9535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Economy &amp; Trade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Schmitt-Grohé (2003), Bohringer et al. (2018), IEA (2023)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3593592"/>
            <a:ext cx="38404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57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pricing / trade focus—not the battery price import channel.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This capstone: Jointly models endogenous reliability, deployment-driven learning, and the agility gap in an open-economy DSGE calibrated to Vietnam.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Model: Small Open Economy DSGE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5661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64008" cy="4023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2461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endogenous variables, 3 shocks (ε_ren, ε_bat, ε_I)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household maximizes discounted utility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production: value-added + fixed energy endowment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reliability = f(flexibility assets / VRE volatility)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capital (private, agile) + Grid capital (public, slow)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Learning-by-doing in BESS activated by reliability gap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Debt-elastic interest rate premium (Schmitt-Grohé 2003)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saddle-path equilibrium (Blanchard-Kahn verified)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23360" y="777240"/>
            <a:ext cx="48463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23360" y="777240"/>
            <a:ext cx="64008" cy="4023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822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Structural Equations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1261872"/>
            <a:ext cx="4480560" cy="8046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29844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Constraint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0" y="15179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u_t = 1 − exp(−ψ · F_t / φ_int · Vol_ren,t)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180136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reliability; u_t is capital utilization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06240" y="2148840"/>
            <a:ext cx="4480560" cy="8046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218541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Flexibility Bundle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0" y="24048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F_t = [μ(A_bat K_b)^s + (1−μ)K_g^s]^(1/s)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268833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&amp; grid are complements (ρ = 0.4 &lt; 1)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06240" y="3035808"/>
            <a:ext cx="4480560" cy="8046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307238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Learning-by-Doing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3291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ΔA_bat,t = η_bat · χ · (u* − u_t)/u*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0" y="357530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 = price signal transmission (regulatory parameter)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06240" y="3922776"/>
            <a:ext cx="4480560" cy="8046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395935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Investment Rule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0" y="41788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I_bat,t / Ī_bat = (u*/u_t)^φ_grid / P_bat,t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0" y="446227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agile; dominated by world battery price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 Vietnam-Specific Parameter Strategy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16052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4297680"/>
              </a:tblGrid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Rationale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Factor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= 0.99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 ann. real rate (VGB average)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0.35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 income share = 65% (GSO 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Energy-VA Elasticity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σ_E = 0.6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Heutel (2012); energy-capital complementarity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Intermittency Persistence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ρ_ren = 0.85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Monsoon seasonality (IEA Vietnam 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Intermittency Volatility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σ_ren = 0.12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of monthly solar output (GSO 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 = 0.16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PDP8 capital stock ratio (BESS/grid)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CES Subst. Elasticity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ρ_f = 0.40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Batteries &amp; grid are complements (Hart 2019)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Elasticity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η_bat = 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18–22% Li-ion experience curve (Kittner 2017)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Transmission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 = 1.0 / 0.3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/ regulated market counterfactual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Price Persistence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ρ_bat = 0.90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AR(1) of lithium carbonate prices (BNEF 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Evidence: The Agility Gap</a:t>
            </a:r>
            <a:endParaRPr lang="en-US" sz="2000" dirty="0"/>
          </a:p>
        </p:txBody>
      </p:sp>
      <p:pic>
        <p:nvPicPr>
          <p:cNvPr id="4" name="Image 0" descr="/sessions/dreamy-blissful-ritchie/mnt/MATLAB/agility_gap_dyna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480560"/>
            <a:ext cx="2011680" cy="54864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498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 GW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74320" y="4754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Solar+Wind (2024)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450592" y="4480560"/>
            <a:ext cx="2011680" cy="54864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50592" y="4498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73.5 GW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450592" y="4754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PDP8 Target 2030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26864" y="4480560"/>
            <a:ext cx="2011680" cy="54864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26864" y="4498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GW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626864" y="4754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(2024)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803136" y="4480560"/>
            <a:ext cx="2011680" cy="54864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03136" y="4498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 GW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03136" y="4754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Target 2030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Results: Impulse Responses to Intermittency Shock</a:t>
            </a:r>
            <a:endParaRPr lang="en-US" sz="1900" dirty="0"/>
          </a:p>
        </p:txBody>
      </p:sp>
      <p:pic>
        <p:nvPicPr>
          <p:cNvPr id="4" name="Image 0" descr="/sessions/dreamy-blissful-ritchie/mnt/MATLAB/irf_dyna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58521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777240"/>
            <a:ext cx="25603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09360" y="777240"/>
            <a:ext cx="64008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8229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0" y="126187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−0.005%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92240" y="15361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loss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92240" y="171907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impact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92240" y="1911096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−0.013%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92240" y="218541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drop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92240" y="236829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impact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92240" y="256032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−0.0001%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92240" y="28346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92240" y="30175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via borrowing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92240" y="3209544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+0.0001%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92240" y="348386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invest.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92240" y="366674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reliability gap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4320" y="4114800"/>
            <a:ext cx="859536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114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penalty → output ↓  |  </a:t>
            </a:r>
            <a:pPr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 gap: private battery agile, public grid sluggish  |  </a:t>
            </a:r>
            <a:pPr indent="0" marL="0">
              <a:buNone/>
            </a:pPr>
            <a:r>
              <a:rPr lang="en-US" sz="1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A_bat improves by 0.11% by Q10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Battery Price Shock: Vietnam's External Vulnerability</a:t>
            </a:r>
            <a:endParaRPr lang="en-US" sz="1900" dirty="0"/>
          </a:p>
        </p:txBody>
      </p:sp>
      <p:pic>
        <p:nvPicPr>
          <p:cNvPr id="4" name="Image 0" descr="/sessions/dreamy-blissful-ritchie/mnt/MATLAB/irf_battery_pri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557784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777240"/>
            <a:ext cx="2834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0" y="777240"/>
            <a:ext cx="64008" cy="3931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0" y="822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FEVD Summary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17920" y="1143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(40-Quarter Horizon)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1417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ε_ren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95160" y="1417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ε_bat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680960" y="1417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53E3E"/>
                </a:solidFill>
              </a:rPr>
              <a:t>ε_I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17920" y="1645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(Y)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17920" y="1901952"/>
            <a:ext cx="205877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76692" y="1901952"/>
            <a:ext cx="416966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93658" y="1901952"/>
            <a:ext cx="130302" cy="2011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2194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(u)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17920" y="2450592"/>
            <a:ext cx="221513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33054" y="2450592"/>
            <a:ext cx="312725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45779" y="2450592"/>
            <a:ext cx="78181" cy="2011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0" y="2743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(C)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17920" y="2999232"/>
            <a:ext cx="2866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04584" y="2999232"/>
            <a:ext cx="208483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589416" y="2999232"/>
            <a:ext cx="234544" cy="2011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0" y="3291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Invest.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217920" y="3547872"/>
            <a:ext cx="260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43980" y="3547872"/>
            <a:ext cx="26060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17920" y="3840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Invest.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217920" y="4096512"/>
            <a:ext cx="364846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2766" y="4096512"/>
            <a:ext cx="260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08826" y="4096512"/>
            <a:ext cx="2215134" cy="2011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4320" y="4114800"/>
            <a:ext cx="5669280" cy="59436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1480" y="41148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100% of battery investment volatility is driven by global battery price shocks—not domestic intermittency. Vietnam is a price-taker in lithium markets.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Valley: PDP8 Transition Path</a:t>
            </a:r>
            <a:endParaRPr lang="en-US" sz="2000" dirty="0"/>
          </a:p>
        </p:txBody>
      </p:sp>
      <p:pic>
        <p:nvPicPr>
          <p:cNvPr id="4" name="Image 0" descr="/sessions/dreamy-blissful-ritchie/mnt/MATLAB/agility_gap_dyna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557784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777240"/>
            <a:ext cx="28346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0" y="777240"/>
            <a:ext cx="64008" cy="31089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0" y="822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Valley Characteristics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1792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Q45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17920" y="1536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Valley Nadir (Year 11.2)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17920" y="1892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91.98%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17920" y="2194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Grid Reliability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17920" y="25511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5.17 pp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17920" y="28529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97% Target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17920" y="32095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 hrs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17920" y="35112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failure per year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4005072"/>
            <a:ext cx="8595360" cy="777240"/>
          </a:xfrm>
          <a:prstGeom prst="rect">
            <a:avLst/>
          </a:prstGeom>
          <a:solidFill>
            <a:srgbClr val="FEF2F2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4005072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Front-loaded VRE deployment (PDP8 Solar FiT boom)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Lagged grid infrastructure (5–7 year planning cycle)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Battery growth constrained by global supply chains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Gap: Policy Counterfactuals</a:t>
            </a:r>
            <a:endParaRPr lang="en-US" sz="2000" dirty="0"/>
          </a:p>
        </p:txBody>
      </p:sp>
      <p:pic>
        <p:nvPicPr>
          <p:cNvPr id="4" name="Image 0" descr="/sessions/dreamy-blissful-ritchie/mnt/MATLAB/closing_the_g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5394960" cy="310896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822960"/>
          <a:ext cx="3063240" cy="1554480"/>
        </p:xfrm>
        <a:graphic>
          <a:graphicData uri="http://schemas.openxmlformats.org/drawingml/2006/table">
            <a:tbl>
              <a:tblPr/>
              <a:tblGrid>
                <a:gridCol w="1554480"/>
                <a:gridCol w="777240"/>
                <a:gridCol w="731520"/>
              </a:tblGrid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Valley Nadir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(φ_grid=1.5)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Accel. Grid (φ_grid=3.0)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 pp (−30%)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Subsidy (P_bat=0.8)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 pp (−39%)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2514600"/>
            <a:ext cx="30632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0" y="255117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Battery subsidies are more effective at reducing valley DEPTH (−38.6%)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5852160" y="3017520"/>
            <a:ext cx="30632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0" y="305409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Accelerated grid planning better at reducing valley DURATION (−20%)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852160" y="3520440"/>
            <a:ext cx="30632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43600" y="355701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Neither policy alone eliminates the valley—coordinated investment needed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74320" y="4005072"/>
            <a:ext cx="8595360" cy="777240"/>
          </a:xfrm>
          <a:prstGeom prst="rect">
            <a:avLst/>
          </a:prstGeom>
          <a:solidFill>
            <a:srgbClr val="F0FDF4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4005072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Policy Sequencing: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battery subsidies FIRST (2025–2035) to reduce valley depth during critical transition; THEN pursue grid planning reforms to ensure full recovery within PDP8 horizon.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Analysis: Signal Attenuation &amp; Regulatory Cost</a:t>
            </a:r>
            <a:endParaRPr lang="en-US" sz="2000" dirty="0"/>
          </a:p>
        </p:txBody>
      </p:sp>
      <p:pic>
        <p:nvPicPr>
          <p:cNvPr id="4" name="Image 0" descr="/sessions/dreamy-blissful-ritchie/mnt/MATLAB/counterfactual_ch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5120640" cy="301752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822960"/>
          <a:ext cx="333756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59436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 (χ)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Welfare Cost 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transmission (χ=1.0)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0.000054%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(χ=0.5)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0.000063%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Suppressed (χ=0.0)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0.000073%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577840" y="2560320"/>
            <a:ext cx="33375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577840" y="2560320"/>
            <a:ext cx="6400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76072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2 (proved)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760720" y="290779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Λ(χ) is strictly decreasing in χ: markets with better price signal transmission face lower welfare costs of intermittency.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74320" y="3931920"/>
            <a:ext cx="8595360" cy="841248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3931920"/>
            <a:ext cx="8321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"Perfect Storm" (joint shock):  </a:t>
            </a:r>
            <a:pPr indent="0" marL="0">
              <a:buNone/>
            </a:pPr>
            <a:r>
              <a:rPr lang="en-US" sz="10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ENSO drought + global lithium price spike coincide → battery price contributes 3× more to welfare costs than intermittency alone (Λ_joint = 0.000204%). The "scissors effect": intermittency raises storage need while price shock raises storage cost—battery investment FALLS. The economy cannot self-correct.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Sensitivity Analysis</a:t>
            </a:r>
            <a:endParaRPr lang="en-US" sz="2000" dirty="0"/>
          </a:p>
        </p:txBody>
      </p:sp>
      <p:pic>
        <p:nvPicPr>
          <p:cNvPr id="4" name="Image 0" descr="/sessions/dreamy-blissful-ritchie/mnt/MATLAB/sensitivity_analys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512064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777240"/>
            <a:ext cx="33375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777240"/>
            <a:ext cx="64008" cy="3291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82296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Findings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1234440"/>
            <a:ext cx="30175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12710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 (reliability curvature)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852160" y="14721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dynamics are invariant to ψ—ψ only affects nonlinear Reliability Valley curvature, not local IRFs.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1947672"/>
            <a:ext cx="30175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19842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φ_grid (grid responsiveness)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0" y="21854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investment scales 6× as φ_grid rises from 0.5→3.0, but welfare gains are modest due to capital accumulation lags.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60720" y="2660904"/>
            <a:ext cx="30175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0" y="26974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(battery weight)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52160" y="2898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μ reduces welfare cost monotonically: economies relying more on agile private storage absorb shocks better.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60720" y="3374136"/>
            <a:ext cx="30175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0" y="34107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(discount factor)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85216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Impatient households (β=0.98) face 26% higher welfare costs due to expensive borrowing and lower investment capacity.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4320" y="4206240"/>
            <a:ext cx="859536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42062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results—the Agility Gap mechanism and signal attenuation effect—are robust across all parameter variations tested.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Key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97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59436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6187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8961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Intermittency Drives Output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24358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Intermittency shocks account for 79% of output volatility and 85% of reliability volatility through the capital utilization channel.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297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59436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6187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8961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Price Dominance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24358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battery investment volatility is driven by global battery price shocks—Vietnam's green transition is hostage to global lithium markets.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297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40280"/>
            <a:ext cx="59436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97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331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Learning Matters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67919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Learning-by-doing generates persistent 1.3–1.5% battery technology improvements over 1000 periods, conditional on regulatory signal χ.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240280"/>
            <a:ext cx="4297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40280"/>
            <a:ext cx="594360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697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2331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Agility Gap is Structural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67919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IRFs confirm battery investment is 10× more agile than grid investment, creating a predictable mid-transition reliability valley.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675888"/>
            <a:ext cx="8595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75888"/>
            <a:ext cx="594360" cy="12801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13308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7673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Are 35% Less Costly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11480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Suppressing price signals (χ→0) raises the welfare cost of intermittency by 35%—market mechanisms are essential complements to storage.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Implications for Vietnam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51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1783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1. Market Reform: Unlock χ ≈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locational marginal pricing in a competitive wholesale market, establish capacity remuneration mechanisms, and compensate battery operators for ancillary services. Without these, EVN's regulated tariffs keep χ ≈ 0—disabling the learning channel.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4251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834640"/>
            <a:ext cx="64008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07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2. Battery Subsidies (2025–2035 Priority)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20% reduction in effective battery prices shrinks the reliability valley depth by 38.6%. Concessional financing, tax credits, or direct subsidies for BESS deployment are the highest-priority intervention during the critical mid-transition decade.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251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22960"/>
            <a:ext cx="64008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8961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3. Grid Planning Reform (Medium-Term)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28016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grid investment responsiveness (φ_grid: 1.5 → 3.0) shortens the valley duration by 20% and achieves full recovery by year 20. Pre-approved transmission corridors, streamlined permitting, and dedicated grid investment funds are key levers.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251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34640"/>
            <a:ext cx="64008" cy="17830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07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4. Supply Chain Diversification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29184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price shocks drive 3× more welfare costs than intermittency. Domestic battery manufacturing capacity, long-term procurement contracts, and strategic reserves reduce Vietnam's exposure to global lithium market volatility.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Achieving χ ≈ 1 requires concrete reforms: wholesale electricity spot market, capacity payments, and real-time pricing for storage providers.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Directions for Future Research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519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64008" cy="39776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03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 deployment treated as exogenous—optimal pace not determined endogenously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household precludes distributional analysis (inequality impacts)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share slightly above data (72.8% vs. 64–66%) due to no government consumption block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Log-linearization limits analysis to first-order dynamics; large shocks may be understated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Abstracts from fossil fuel phase-out, carbon pricing, and cross-border electricity trade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2519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04672"/>
            <a:ext cx="64008" cy="3977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503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261872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nominal rigidities + monetary policy to analyze "greenflation" via the intermittency channel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Endogenize VRE capacity investment for joint analysis of deployment pace and flexibility timing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agent extension to capture distributional impacts across income groups and regions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carbon pricing / CBAM to link domestic reliability problem to international climate policy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Two-country model to analyze cross-border electricity trade and regional grid integration in ASEAN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0D1F3A"/>
          </a:solidFill>
          <a:ln w="12700">
            <a:solidFill>
              <a:srgbClr val="0D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3200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capstone develops an Environmental DSGE model that endogenizes grid reliability and battery storage learning, calibrated to Vietnam's Power Development Plan 8.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68580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Intermittency shocks reduce capital utilization and drive 79% of output volatility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investment (100%) dominated by global price shocks—not domestic policy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Market-based signals (χ) reduce welfare costs by 35%—markets &amp; storage are complements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Valley is predictable and avoidable with coordinated battery + grid policy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needs wholesale market reform AND storage subsidies to manage the PDP8 transition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3977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Toan T. Nguyen  ·  Fulbright University Vietnam  ·  Advisor: Dr. Xavier Martin G. Bautista  ·  Spring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0" y="44622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thtoan39@gmail.com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Renewable Intermittency and Grid Reliability: A DSGE Model for Vietnam</dc:title>
  <dc:subject>PptxGenJS Presentation</dc:subject>
  <dc:creator>Toan T. Nguyen</dc:creator>
  <cp:lastModifiedBy>Toan T. Nguyen</cp:lastModifiedBy>
  <cp:revision>1</cp:revision>
  <dcterms:created xsi:type="dcterms:W3CDTF">2026-02-22T10:59:17Z</dcterms:created>
  <dcterms:modified xsi:type="dcterms:W3CDTF">2026-02-22T10:59:17Z</dcterms:modified>
</cp:coreProperties>
</file>