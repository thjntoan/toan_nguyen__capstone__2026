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Renewable Intermittency and Grid Investment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6A17"/>
                </a:solidFill>
                <a:latin typeface="Calibri"/>
              </a:defRPr>
            </a:pPr>
            <a:r>
              <a:t>The Role of Scarcity-Induced Battery Innovation in Vietnam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Toan T. Nguyen (Justin)  |  Advisor: Dr. Xavier Martin G. Bautista  |  Fulbright University Vietnam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1.  Motivation: The Agility Gap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2.  Research Question &amp; Contributions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3.  Model Overview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4.  Households &amp; Production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5.  Grid Reliability &amp; Flexibility Assets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6.  Scarcity-Induced Technological Change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7.  Government &amp; External Sector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8.  Calibration Strategy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9.  Transmission Channels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10. Impulse Response Analysis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11. The Reliability Valley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12. Variance Decomposition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13. Welfare Analysis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14. Policy Counterfactuals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15. Conclusion &amp;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Motivation: The Agility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Vietnam's PDP8 targets 73.5 GW of renewable capacity by 2030 (from ~22.8 GW in 2024)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Battery storage remains near zero despite a 14 GW PDP8 target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Grid transmission investment grew modestly from $0.6B to $3.2B (2015-2024)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This structural mismatch = the "agility gap":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    - Private battery investment: agile, modular, responsive to market signals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    - Public grid investment: sluggish, subject to planning delays &amp; construction 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How does the structural divergence between rapid renewable deployment and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slow flexibility accumulation affect macroeconomic outcomes in a developing economy?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Three core contributions: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   1. Endogenous reliability function linking capital utilization to flexibility assets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   2. Scarcity-induced technological change where innovation responds to reliability gaps</a:t>
            </a:r>
          </a:p>
          <a:p>
            <a:pPr>
              <a:spcAft>
                <a:spcPts val="600"/>
              </a:spcAft>
              <a:defRPr sz="1600">
                <a:solidFill>
                  <a:srgbClr val="1B1B2F"/>
                </a:solidFill>
                <a:latin typeface="Calibri"/>
              </a:defRPr>
            </a:pPr>
            <a:r>
              <a:t>   3. Distinction between agile private (battery) and sluggish public (grid)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Position in the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This Thesis Bridges: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Environmental DSGE (E-DSGE)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Heutel (2012), Fischer &amp; Springborn (2011)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Airaudo et al. (2025): greenflation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Missing: grid reliability, storage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Directed Technical Change (DTC)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Acemoglu (2002), Acemoglu et al. (2012)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Hassler et al. (2021): resource scarcity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Missing: intermittency, storage innovation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Gaps in the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Learning-by-Doing / Experience Curves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Arrow (1962), Kittner et al. (2017)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Way et al. (2022): battery cost curves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Missing: scarcity signals as driver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Small Open Economy DSGE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Schmitt-Grohe &amp; Uribe (2003)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Mendoza (1991), Neumeyer &amp; Perri (2005)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Missing: energy transition frictions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Model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Small Open Economy DSGE model calibrated to Vietnam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16 endogenous variables, 16 equations, 3 exogenous shocks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Key agents: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Representative household: consumes, supplies labor, invests in capital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Representative firm: CES production (value-added + energy)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Government: fiscal rule for grid investment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Three shocks: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Intermittency shock (epsilon_ren): AR(1), rho=0.85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 price shock (epsilon_bat): AR(1), rho=0.90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Grid implementation shock (epsilon_I): i.i.d.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Households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Utility: E_0 sum beta^t [ log(C_t) - phi * L_t^{1+sigma_L} / (1+sigma_L) ]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Discount factor beta = 0.99 (quarterly, 4% annual real rate)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Budget constraint: C_t + I_p + P_bat*I_bat + B* + tau*Y = wL + R*K_p + (1+r*)B*_{-1}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Euler equation (capital): 1/C_t = beta * E_t[ ((1-tau)*alpha*Y_{t+1}/K_p + 1-delta_p) / C_{t+1} ]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Labor supply: (1-tau)(1-alpha)V_t = phi * C_t * L_t^{1+sigma_L}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Proportional tax tau = 1.43% creates a constant fiscal wedge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International bonds B* with debt-elastic interest rate premium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Production Sector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Nested CES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CES Final Output: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Y_t = [(1-omega_E)V_t^{s_E} + omega_E*bar{E}^{s_E}]^{1/s_E}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sigma_E = 0.6 (energy-VA complements)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Value-Added: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V_t = Z * (u_t * K_{p,t-1})^alpha * L_t^{1-alpha}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alpha = 0.35 (capital share)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Reliability channel: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u_t in (0,1): fraction of capital that is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operational given grid conditions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NOT a choice variable; reflects system-wide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power availability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- 3% reliability shortfall ≈ 1% TFP loss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Energy endowment bar{E} is fixed (PDP8 targets)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Grid Reliability &amp;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Reliability constraint: u_t = 1 - exp(-psi * F_t / (phi_int * Vol_ren))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u_t: capital utilization (grid reliability)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F_t: total flexibility assets (batteries + grid)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Vol_ren: renewable output volatility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psi = 2.0: sensitivity parameter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phi_int = 55.6: integration complexity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Flexibility CES bundle: F_t = [ mu*(A_bat*K_b)^{s_F} + (1-mu)*K_g^{s_F} ]^{1/s_F}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rho = 0.4 (imperfect complements: rho &lt; 1)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mu = 0.16 (battery weight in bundle)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K_b: battery capital; K_g: grid capital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A_bat: battery technology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Scarcity-Induced Technological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Battery technology evolves endogenously: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A_{bat,t} = A_{bat,t-1} * [1 + eta_bat * chi * (u* - u_t) / u*]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Key parameters: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eta_bat = 0.10: innovation elasticity (Popp, 2002 range: 0.05-0.35)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chi in [0,1]: regulatory signal transmission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u* = 0.97: reliability target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Mechanism: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When reliability falls below target, innovation accelerates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Zero innovation at u_t = u* (steady state)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One-period delay: A_{bat,t} enters F_{t+1}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If chi -&gt; 0 (suppressed prices), innovation channel collapses entirely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Government &amp; External Sector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Government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Grid investment rule: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I_{grid,t} / bar{I}_{grid} = (u* / u_t)^{phi_grid}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phi_grid = 1.5 (responsiveness)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Financed by fixed proportional tax: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tau = 1.43% of output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Reactive: invests more when grid is stressed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External Sector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Bond Euler: 1/C_t = beta * E_t[(1+r*_t)/C_{t+1}]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Debt-elastic premium: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r*_t = bar{r} + phi_b*(exp(bar{B}*-B*_t) - 1)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phi_b = 0.039 (data-anchored estimate)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Resource constraint: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Y_t = C_t + I_p + P_bat*I_bat + I_grid + (B*_t - (1+r*_{t-1})B*_{t-1})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Calibration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Standard parameters: GSO national accounts, World Bank data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beta = 0.99 (4% annual real rate), alpha = 0.35, delta_p = 2.5% quarterly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Reliability parameters: Moment-matched to EVN data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u_ss = 97% (EVN grid availability target)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psi = 2.0, phi_int = 55.6 (identified from level + slope moments)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Innovation parameters: Empirical literature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eta_bat = 0.10 (Popp, 2002; Kittner et al., 2017)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chi = 1.0 baseline / 0.3 regulated counterfactual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External sector: Vietnam-specific data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phi_b = 0.039 (OLS on World Bank real rate + external debt/GNI, R^2=0.16)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Steady-State Characterization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Output Y_ss = 1.0 (normalized); Utilization u_ss = 97.0%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Consumption share C_ss/Y_ss = 73.4%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Productive capital K_p,ss = 9.83; Labor L_ss = 0.33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Flexibility assets: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 capital K_b,ss = 0.19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Grid capital K_g,ss = 1.14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Battery-to-grid ratio = 0.167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Investment flows: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 investment I_bat,ss = delta_b * K_b,ss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Grid investment I_grid,ss = delta_g * K_g,ss = 1.43% of Y_ss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Tax rate tau_ss = 1.43% = I_grid,ss / Y_ss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Balanced trade: B*_ss =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Three Core Transmission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Channel 1: Intermittency -&gt; Reliability -&gt; Output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 increases Vol_ren -&gt; u_t falls -&gt; effective capital contracts -&gt; Y_t drops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Channel 2: Reliability Gap -&gt; Investment (The Agility Gap)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u*/u_t &gt; 1 -&gt; I_bat rises (private, agile)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u*/u_t &gt; 1 -&gt; I_grid rises (public, sluggish through accumulation lags)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Channel 3: Reliability Gap -&gt; Scarcity-Induced Innovation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u*/u_t &gt; 1 -&gt; innovation accelerates -&gt; A_bat improves -&gt; F increases -&gt; u recovers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Conditional on regulatory transmission parameter chi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Impulse Response: Intermittency 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A one-standard-deviation intermittency shock (sigma_ren = 0.12):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On impact: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Reliability u_t falls by 1.30%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Output Y_t drops by 0.53%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Productive investment I_p falls by 3.5% (Euler amplification)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Consumption C_t falls by 0.06% (international smoothing)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Agility Gap response: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Both I_bat and I_grid rise by 1.95% proportionally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But grid investment is 2.5x larger in absolute levels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  - Battery technology A_bat improves by ~0.65% by quarter 10</a:t>
            </a: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B1B2F"/>
                </a:solidFill>
                <a:latin typeface="Calibri"/>
              </a:defRPr>
            </a:pPr>
            <a:r>
              <a:t>Persistence: AR(1) with rho=0.85 -&gt; half-life ~4.3 quarters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Reliability Valley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Deterministic simulation: VRE penetration 15% -&gt; 50% over 100 quarters (25 years)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Key result: Sustained reliability shortfall emerges mid-transition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Nadir at quarter 45: u_t drops to 81.3%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- 15.7 percentage points below the 97% target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Implies ~1,640 hours/year of unmet demand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Causes: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VRE deployment outpaces flexibility accumulation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 investment constrained by global prices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Grid investment limited by institutional inertia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Comparable severity to 2021 Texas winter storm, but sustained for years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Forecast Error Variance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Intermittency Dominates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Output (Y_t)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epsilon_ren: 95.4%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epsilon_bat: 5%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epsilon_I: negligible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Reliability (u_t)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epsilon_ren: 95.8%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epsilon_bat: negligible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Battery Prices Drive Storage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Battery Investment (I_bat)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epsilon_ren: negligible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epsilon_bat: 100%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Grid Investment (I_grid)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epsilon_ren: 25%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epsilon_I (implementation): 82%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Consumption (C_t)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epsilon_ren: 85%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epsilon_bat: 11%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Welfare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Methodology: Lucas (1987) compensating consumption variation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Baseline welfare cost: Delta_Lambda = 0.000569% of steady-state consumption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Key results: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Suppressing scarcity signals (chi -&gt; 0): welfare cost rises by 20%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Higher battery weight (mu): lower welfare costs (more agile storage)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Higher grid responsiveness (phi_grid): modest improvement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Impatient households (beta = 0.98): higher welfare costs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Joint shock scenario (intermittency + battery price):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Additional welfare cost of 0.0189%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"Scissors effect": intermittency raises need for storage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while battery price shock raises its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Policy Counterfactuals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Battery Subsidy (P_bat = 0.8)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Valley depth improves from 15.7pp to 9.6pp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- 38.6% reduction in depth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Valley still persists (duration unchanged)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Accelerated Grid Planning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Valley duration shortens by 20%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Recovery achieved by quarter 81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Valley depth improvement is modest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Key insight: Neither policy alone eliminates the valley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Superadditivity: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Joint gain from coordinated investment exceeds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sum of individual gains by 32.9%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Confirms complementarity proposition (rho &lt; 1)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 + grid are imperfect complements -&gt;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need coordinated investment in both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Joint Shock Scenario: Perfect 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Simultaneous one-standard-deviation shocks: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epsilon_ren (intermittency) + epsilon_bat (battery price)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Results: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Output falls by 0.51% (similar to baseline)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Battery investment declines by 6.05% (vs. +1.95% baseline)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Current account deteriorates (twin drain effect)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Welfare cost rises by additional 0.0189% of consumption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Policy implication: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During a perfect storm, the economy cannot self-correct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through the storage channel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Strengthens case for strategic battery reserves or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 long-term procurement contracts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Findings &amp; Policy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1. The reliability penalty is a tangible macroeconomic friction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- 0.53% output loss from a one-standard-deviation intermittency shock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2. The agility gap is structurally asymmetric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Battery investment: 100% driven by global price shocks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Grid investment: 82% driven by domestic implementation shocks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3. Scarcity-induced innovation provides a persistent adjustment mechanism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But strictly conditional on regulatory signal transmission (chi)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Suppressing scarcity signals raises welfare costs by 20%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4. Battery and grid are imperfect complements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Coordinated investment produces superadditive gains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Neither alone solves the reliability problem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Policy Recommendations for Vietnam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1. Market-based scarcity signals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Real-time pricing, capacity payments, ancillary service remuneration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Need chi -&gt; 1 to activate the innovation channel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2. Coordinated flexibility investment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Battery subsidies alone insufficient (global price exposure)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Grid planning acceleration alone insufficient (institutional lags)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Need both: coordinated approach with superadditive gains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3. Domestic battery manufacturing capacity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Reduces external vulnerability to global price shocks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Attenuates the "twin drain" on the current account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4. Competitive wholesale electricity market (VWEM/VREM)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Enables price discovery for reliability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 - Unlocks scarcity-induced innovation channel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Limitations &amp; Future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Current Limitations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Exogenous renewable endowment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Representative household (no distributional effects)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First-order approximation (linearization)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No fossil fuel phase-out dynamics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No carbon pricing / CBAM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No cross-border electricity trade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Extensions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Nominal rigidities + monetary policy (greenflation)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Deterministic transition path for renewables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Heterogeneous agents (distributional impacts)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Endogenous renewable capacity decisions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Carbon pricing + border adjustment mechanisms</a:t>
            </a:r>
          </a:p>
          <a:p>
            <a:pPr>
              <a:spcAft>
                <a:spcPts val="600"/>
              </a:spcAft>
              <a:defRPr sz="1500">
                <a:solidFill>
                  <a:srgbClr val="1B1B2F"/>
                </a:solidFill>
                <a:latin typeface="Calibri"/>
              </a:defRPr>
            </a:pPr>
            <a:r>
              <a:t>  - Second-order solution for large shocks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6A1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Toan T. Nguyen (Justin)</a:t>
            </a:r>
            <a:br/>
            <a:r>
              <a:t>t.nguyen@fulbright.edu.vn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